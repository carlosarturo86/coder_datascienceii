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65" r:id="rId14"/>
  </p:sldIdLst>
  <p:sldSz cx="14630400" cy="8229600"/>
  <p:notesSz cx="8229600" cy="14630400"/>
  <p:embeddedFontLs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1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083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1ECA5-30F2-B6DD-EE4F-BCD9DF8CE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E9564-8AE6-CB31-1571-FC3F44FDC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AE78BA-02F2-97BD-BDC2-676CAC36B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AF64E-375E-3A7A-A9AE-C138CB7BB0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3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6B92C-F8D8-CAE8-B71A-FFC2E87F0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C6A384-8973-83BB-2214-60BE6AEB0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8B1B9-4597-9BE2-F708-B6FFAA71F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17C58-FACD-3692-F4DD-12234F95BE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442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4288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478" y="202156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CO" sz="8000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BurnPredict</a:t>
            </a:r>
            <a:endParaRPr lang="es-CO" sz="8000" noProof="0" dirty="0"/>
          </a:p>
        </p:txBody>
      </p:sp>
      <p:sp>
        <p:nvSpPr>
          <p:cNvPr id="4" name="Text 1"/>
          <p:cNvSpPr/>
          <p:nvPr/>
        </p:nvSpPr>
        <p:spPr>
          <a:xfrm>
            <a:off x="793790" y="3556278"/>
            <a:ext cx="7556421" cy="922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s-CO" sz="2800" i="1" noProof="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Predice cuántas calorías vas a quemar antes de entrenar</a:t>
            </a:r>
            <a:r>
              <a:rPr lang="es-CO" sz="2800" noProof="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s-CO" sz="2800" noProof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</a:t>
            </a:r>
            <a:endParaRPr lang="es-CO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908090" y="6876812"/>
            <a:ext cx="7556421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s-CO" sz="2800" noProof="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Úsalo en tu reloj inteligente </a:t>
            </a:r>
            <a:r>
              <a:rPr lang="es-CO" sz="2800" noProof="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</a:t>
            </a:r>
          </a:p>
          <a:p>
            <a:pPr marL="0" indent="0" algn="l">
              <a:lnSpc>
                <a:spcPts val="2850"/>
              </a:lnSpc>
              <a:buNone/>
            </a:pPr>
            <a:endParaRPr lang="es-CO" sz="2800" noProof="0" dirty="0">
              <a:solidFill>
                <a:srgbClr val="00000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812" y="615315"/>
            <a:ext cx="758237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¿Por qué este dataset es oro?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80812" y="2344341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1505783" y="2386132"/>
            <a:ext cx="6857405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1.000.000 registros reales de actividad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física</a:t>
            </a:r>
            <a:endParaRPr lang="en-US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80812" y="3668792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505783" y="3710583"/>
            <a:ext cx="6857405" cy="125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s-CO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Variables: </a:t>
            </a:r>
            <a:r>
              <a:rPr lang="es-CO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pasos, sueño, frecuencia cardíaca, tipo de ejercicio, clima, ubicación, estado de animo, horas de sueño, entro otras.</a:t>
            </a:r>
            <a:endParaRPr lang="es-CO" noProof="0" dirty="0"/>
          </a:p>
        </p:txBody>
      </p:sp>
      <p:sp>
        <p:nvSpPr>
          <p:cNvPr id="8" name="Shape 5"/>
          <p:cNvSpPr/>
          <p:nvPr/>
        </p:nvSpPr>
        <p:spPr>
          <a:xfrm>
            <a:off x="780812" y="5411510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505783" y="5453301"/>
            <a:ext cx="6857405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b="1" dirty="0">
                <a:solidFill>
                  <a:srgbClr val="43895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Objetivo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: </a:t>
            </a:r>
            <a:r>
              <a:rPr lang="en-US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predecir calorías quemadas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80812" y="6735961"/>
            <a:ext cx="501968" cy="501968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505783" y="6777752"/>
            <a:ext cx="7638217" cy="836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250"/>
              </a:lnSpc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Fuente: Kaggle</a:t>
            </a:r>
            <a:br>
              <a:rPr lang="en-US" sz="2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</a:b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https://www.kaggle.com/datasets/smayanj/fitness-tracker-dataset?select=fitness_tracker_dataset.csv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10" y="857130"/>
            <a:ext cx="107708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Estadísticas </a:t>
            </a:r>
            <a:r>
              <a:rPr lang="en-US" sz="44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Numéricas</a:t>
            </a: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Clave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 la Base de Datos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62526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01410" y="307014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8462" y="3213854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243280" y="321385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Promedio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848725" y="321385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Máximo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1454170" y="321385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Mínimo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72046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28462" y="386417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Pasos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43280" y="386417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15.005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848725" y="386417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29.999	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454170" y="386417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37078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28462" y="4514493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Calorías quemadas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243280" y="451449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2.750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8848725" y="451449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4.000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1454170" y="451449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1.500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502110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28462" y="516481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Horas de sueño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243280" y="516481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6.0 h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8848725" y="516481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h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1454170" y="516481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0.0 h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67142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1028462" y="5815132"/>
            <a:ext cx="47535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Frecuencia cardíaca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6243280" y="581513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119.4 lpm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8848725" y="581513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179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1454170" y="581513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60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91861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Estadísticas Categóricas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96703"/>
            <a:ext cx="7604284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01410" y="2204323"/>
            <a:ext cx="7589044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8224" y="2348032"/>
            <a:ext cx="48548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Categoría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344364" y="2348032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% Uso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2854643"/>
            <a:ext cx="7589044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28224" y="2998351"/>
            <a:ext cx="48548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 de ejercicio: Running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344364" y="2998351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25 %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504962"/>
            <a:ext cx="7589044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28224" y="3648670"/>
            <a:ext cx="48548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 de ejercicio: Yoga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344364" y="3648670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20 %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155281"/>
            <a:ext cx="7589044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8224" y="4298990"/>
            <a:ext cx="48548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Ubicación: Parque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344364" y="4298990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35 %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01410" y="4805601"/>
            <a:ext cx="7589044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28224" y="4949309"/>
            <a:ext cx="48548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Clima: Soleado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344364" y="4949309"/>
            <a:ext cx="18192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40 %</a:t>
            </a:r>
            <a:endParaRPr lang="en-US" sz="17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328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986" y="2840831"/>
            <a:ext cx="484382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Objetivo General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51986" y="3702487"/>
            <a:ext cx="13326427" cy="4016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6300"/>
              </a:lnSpc>
              <a:buNone/>
            </a:pPr>
            <a:r>
              <a:rPr lang="es-CO" sz="3200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Crear una </a:t>
            </a:r>
            <a:r>
              <a:rPr lang="es-CO" sz="3200" b="1" noProof="0" dirty="0">
                <a:solidFill>
                  <a:srgbClr val="43895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 móvil</a:t>
            </a:r>
            <a:r>
              <a:rPr lang="es-CO" sz="3200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que prediga </a:t>
            </a:r>
            <a:r>
              <a:rPr lang="es-CO" sz="3200" b="1" noProof="0" dirty="0">
                <a:solidFill>
                  <a:srgbClr val="43895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cuántas calorías quemará una persona</a:t>
            </a:r>
            <a:r>
              <a:rPr lang="es-CO" sz="3200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antes de entrenar, sabiendo a priori información de otras variables que proporcionará el usuario como el clima, tipo de actividad, horas de sueño, entre otras.</a:t>
            </a:r>
            <a:endParaRPr lang="es-CO" sz="32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779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Objetivos Específicos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135511"/>
            <a:ext cx="7556421" cy="1744742"/>
          </a:xfrm>
          <a:prstGeom prst="roundRect">
            <a:avLst>
              <a:gd name="adj" fmla="val 546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1028224" y="3369945"/>
            <a:ext cx="7087553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1. Entrenar un modelo de ML con </a:t>
            </a:r>
            <a:r>
              <a:rPr lang="en-US" sz="265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un </a:t>
            </a:r>
            <a:r>
              <a:rPr lang="en-US" sz="2650" b="1" dirty="0">
                <a:solidFill>
                  <a:schemeClr val="accent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% de </a:t>
            </a:r>
            <a:r>
              <a:rPr lang="en-US" sz="2650" b="1" dirty="0" err="1">
                <a:solidFill>
                  <a:schemeClr val="accent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precisión</a:t>
            </a:r>
            <a:r>
              <a:rPr lang="en-US" sz="2650" b="1" dirty="0">
                <a:solidFill>
                  <a:schemeClr val="accent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acceptable para predecir calorías.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793790" y="5107067"/>
            <a:ext cx="7556421" cy="1744742"/>
          </a:xfrm>
          <a:prstGeom prst="roundRect">
            <a:avLst>
              <a:gd name="adj" fmla="val 546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028224" y="5341501"/>
            <a:ext cx="7087553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2. Ofrecer </a:t>
            </a:r>
            <a:r>
              <a:rPr lang="en-US" sz="2650" b="1" dirty="0">
                <a:solidFill>
                  <a:schemeClr val="accent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rutinas personalizadas </a:t>
            </a:r>
            <a:r>
              <a:rPr lang="en-US" sz="2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según meta calórica del usuario.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0355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Idea de Negocio: BurnPredict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561273"/>
            <a:ext cx="7556421" cy="1223248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1051084" y="2818567"/>
            <a:ext cx="70418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App conectada a </a:t>
            </a:r>
            <a:r>
              <a:rPr lang="en-US" sz="2200" b="1" dirty="0">
                <a:solidFill>
                  <a:srgbClr val="43895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Google Fit / Apple Health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93790" y="4011335"/>
            <a:ext cx="7556421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051084" y="4268629"/>
            <a:ext cx="61311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Predice calorías </a:t>
            </a:r>
            <a:r>
              <a:rPr lang="en-US" sz="2200" b="1" dirty="0">
                <a:solidFill>
                  <a:srgbClr val="43895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antes</a:t>
            </a: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de entrenar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5107067"/>
            <a:ext cx="7556421" cy="1223248"/>
          </a:xfrm>
          <a:prstGeom prst="roundRect">
            <a:avLst>
              <a:gd name="adj" fmla="val 7788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051084" y="5364361"/>
            <a:ext cx="704183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Sugiere </a:t>
            </a:r>
            <a:r>
              <a:rPr lang="en-US" sz="2200" b="1" dirty="0">
                <a:solidFill>
                  <a:srgbClr val="43895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qué ejercicio hacer</a:t>
            </a: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y </a:t>
            </a:r>
            <a:r>
              <a:rPr lang="en-US" sz="2200" b="1" dirty="0">
                <a:solidFill>
                  <a:srgbClr val="438951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por cuánto tiempo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93790" y="6557129"/>
            <a:ext cx="7556421" cy="868918"/>
          </a:xfrm>
          <a:prstGeom prst="roundRect">
            <a:avLst>
              <a:gd name="adj" fmla="val 10964"/>
            </a:avLst>
          </a:prstGeom>
          <a:solidFill>
            <a:srgbClr val="FFFFFF"/>
          </a:solidFill>
          <a:ln w="3048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51084" y="6814423"/>
            <a:ext cx="68958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Diseño juvenil, gamificado y en español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5278"/>
            <a:ext cx="69409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Modelo de Ingresos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87685"/>
            <a:ext cx="13042821" cy="2616518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28343" y="3539014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Fuente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940379" y="3539014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Detalle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28343" y="418933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Freemium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940379" y="418933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Gratis con anuncios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1028343" y="4839653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Premium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940379" y="4839653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$3 USD/mes → sin anuncios + rutinas ilimitadas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28343" y="5489972"/>
            <a:ext cx="3450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389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B2B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940379" y="5489972"/>
            <a:ext cx="86617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Gimnasios y entrenadores pagan por dashboard de clientes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793790" y="2068830"/>
            <a:ext cx="5696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Próximos Pasos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31177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793790" y="3472815"/>
            <a:ext cx="3664744" cy="30480"/>
          </a:xfrm>
          <a:prstGeom prst="rect">
            <a:avLst/>
          </a:prstGeom>
          <a:solidFill>
            <a:srgbClr val="26A6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4"/>
          <p:cNvSpPr/>
          <p:nvPr/>
        </p:nvSpPr>
        <p:spPr>
          <a:xfrm>
            <a:off x="793790" y="3647122"/>
            <a:ext cx="366474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Validar modelo con 5.000 usuarios beta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685348" y="31177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685348" y="3472815"/>
            <a:ext cx="3664863" cy="30480"/>
          </a:xfrm>
          <a:prstGeom prst="rect">
            <a:avLst/>
          </a:prstGeom>
          <a:solidFill>
            <a:srgbClr val="26A6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4685348" y="3647122"/>
            <a:ext cx="366486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Lanzar MVP en Google Play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93790" y="475261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5107662"/>
            <a:ext cx="7556421" cy="30480"/>
          </a:xfrm>
          <a:prstGeom prst="rect">
            <a:avLst/>
          </a:prstGeom>
          <a:solidFill>
            <a:srgbClr val="26A688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/>
          <p:nvPr/>
        </p:nvSpPr>
        <p:spPr>
          <a:xfrm>
            <a:off x="793790" y="5281970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Buscar inversión seed ($50 k) para marketing y desarrollo iOS</a:t>
            </a:r>
            <a:endParaRPr lang="en-US" sz="2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A749DAB-486A-2F56-D2A8-10B3D98C6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9413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976C0-8CA8-C7FA-4AC5-ECDE9E70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D285BB-3AB1-E3CB-1192-C765CC92E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B569B037-BC10-5789-F9BA-B88465B8FFB1}"/>
              </a:ext>
            </a:extLst>
          </p:cNvPr>
          <p:cNvSpPr/>
          <p:nvPr/>
        </p:nvSpPr>
        <p:spPr>
          <a:xfrm>
            <a:off x="608855" y="75644"/>
            <a:ext cx="5696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Entrenamos</a:t>
            </a: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</a:t>
            </a:r>
            <a:r>
              <a:rPr lang="en-US" sz="44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datos</a:t>
            </a: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y </a:t>
            </a:r>
            <a:r>
              <a:rPr lang="en-US" sz="44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aplicamos</a:t>
            </a: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ML</a:t>
            </a:r>
            <a:endParaRPr lang="en-US" sz="44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80057B55-4076-13E7-3E82-F845FFFDE720}"/>
              </a:ext>
            </a:extLst>
          </p:cNvPr>
          <p:cNvSpPr/>
          <p:nvPr/>
        </p:nvSpPr>
        <p:spPr>
          <a:xfrm>
            <a:off x="608855" y="946275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s-CO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Diariamente recibimos datos y entrenamos modelos de ML para mejorar nuestra precisión.</a:t>
            </a:r>
          </a:p>
          <a:p>
            <a:pPr marL="0" indent="0" algn="l">
              <a:lnSpc>
                <a:spcPts val="2750"/>
              </a:lnSpc>
              <a:buNone/>
            </a:pPr>
            <a:endParaRPr lang="es-CO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Randon</a:t>
            </a:r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Forest – </a:t>
            </a: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Gradient</a:t>
            </a:r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</a:t>
            </a: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Boosting</a:t>
            </a:r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</a:t>
            </a: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Regressor</a:t>
            </a:r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– Ridge </a:t>
            </a: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Regression</a:t>
            </a:r>
            <a:endParaRPr lang="es-CO" noProof="0" dirty="0"/>
          </a:p>
        </p:txBody>
      </p:sp>
      <p:pic>
        <p:nvPicPr>
          <p:cNvPr id="16" name="Imagen 15" descr="Tabla&#10;&#10;El contenido generado por IA puede ser incorrecto.">
            <a:extLst>
              <a:ext uri="{FF2B5EF4-FFF2-40B4-BE49-F238E27FC236}">
                <a16:creationId xmlns:a16="http://schemas.microsoft.com/office/drawing/2014/main" id="{E651A648-9838-43F9-7FB5-FA00CBA48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276" y="1176130"/>
            <a:ext cx="5667196" cy="6107195"/>
          </a:xfrm>
          <a:prstGeom prst="rect">
            <a:avLst/>
          </a:prstGeom>
        </p:spPr>
      </p:pic>
      <p:pic>
        <p:nvPicPr>
          <p:cNvPr id="19" name="Imagen 18" descr="Gráfico&#10;&#10;El contenido generado por IA puede ser incorrecto.">
            <a:extLst>
              <a:ext uri="{FF2B5EF4-FFF2-40B4-BE49-F238E27FC236}">
                <a16:creationId xmlns:a16="http://schemas.microsoft.com/office/drawing/2014/main" id="{9149063A-6F5E-010D-C318-4B73C2961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43" y="2595015"/>
            <a:ext cx="6858655" cy="453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489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C6ED9-2BCD-72F2-CE2E-4842BA74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D5A3E0E-7AB3-83D6-085A-3D932E0EC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016A91E2-162E-F749-8E77-3991F9FDB367}"/>
              </a:ext>
            </a:extLst>
          </p:cNvPr>
          <p:cNvSpPr/>
          <p:nvPr/>
        </p:nvSpPr>
        <p:spPr>
          <a:xfrm>
            <a:off x="608855" y="75644"/>
            <a:ext cx="5696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CO" sz="4450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Optimización de Parámetros y selección del Mejor Modelo</a:t>
            </a:r>
            <a:endParaRPr lang="es-CO" sz="4450" noProof="0" dirty="0"/>
          </a:p>
        </p:txBody>
      </p:sp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17CB9216-A725-1F24-5B4C-7B8227F44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817" y="4699934"/>
            <a:ext cx="7500086" cy="1751967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61D80E0-C18C-4C70-EA62-C7297E148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0817" y="2133084"/>
            <a:ext cx="7216040" cy="193521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291BEDA-C1C9-2C81-A7DE-8DCC7E6387CD}"/>
              </a:ext>
            </a:extLst>
          </p:cNvPr>
          <p:cNvSpPr txBox="1"/>
          <p:nvPr/>
        </p:nvSpPr>
        <p:spPr>
          <a:xfrm>
            <a:off x="7100817" y="167319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Gradient</a:t>
            </a:r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</a:t>
            </a: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Boosting</a:t>
            </a:r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</a:t>
            </a: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Regressor</a:t>
            </a:r>
            <a:endParaRPr lang="es-CO" dirty="0"/>
          </a:p>
        </p:txBody>
      </p:sp>
      <p:pic>
        <p:nvPicPr>
          <p:cNvPr id="11" name="Imagen 10" descr="Gráfico&#10;&#10;El contenido generado por IA puede ser incorrecto.">
            <a:extLst>
              <a:ext uri="{FF2B5EF4-FFF2-40B4-BE49-F238E27FC236}">
                <a16:creationId xmlns:a16="http://schemas.microsoft.com/office/drawing/2014/main" id="{C741C713-2BE7-3CE7-534E-7AE7EF88B3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83" y="784423"/>
            <a:ext cx="6683593" cy="679798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B17866E8-ECD7-3095-73B2-A5406F3D8A66}"/>
              </a:ext>
            </a:extLst>
          </p:cNvPr>
          <p:cNvSpPr txBox="1"/>
          <p:nvPr/>
        </p:nvSpPr>
        <p:spPr>
          <a:xfrm>
            <a:off x="7100817" y="4090909"/>
            <a:ext cx="7772400" cy="42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Randon</a:t>
            </a:r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Forest</a:t>
            </a:r>
            <a:endParaRPr lang="es-CO" noProof="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C80DAE5-2AFD-88EE-33B0-B822292BC21C}"/>
              </a:ext>
            </a:extLst>
          </p:cNvPr>
          <p:cNvSpPr txBox="1"/>
          <p:nvPr/>
        </p:nvSpPr>
        <p:spPr>
          <a:xfrm>
            <a:off x="8876534" y="128124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Optimización de </a:t>
            </a:r>
            <a:r>
              <a:rPr lang="es-CO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Hiperparámetros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19303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8D104203-7776-D2CC-0730-CFF385FAF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72" y="1079207"/>
            <a:ext cx="7792537" cy="427732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7F46E53F-9A86-10A4-CAF5-E15968A3A867}"/>
              </a:ext>
            </a:extLst>
          </p:cNvPr>
          <p:cNvSpPr/>
          <p:nvPr/>
        </p:nvSpPr>
        <p:spPr>
          <a:xfrm>
            <a:off x="608855" y="75644"/>
            <a:ext cx="56964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s-CO" sz="4450" b="1" noProof="0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Conclusiones del modelo seleccionado</a:t>
            </a:r>
            <a:endParaRPr lang="es-CO" sz="4450" noProof="0" dirty="0"/>
          </a:p>
        </p:txBody>
      </p:sp>
    </p:spTree>
    <p:extLst>
      <p:ext uri="{BB962C8B-B14F-4D97-AF65-F5344CB8AC3E}">
        <p14:creationId xmlns:p14="http://schemas.microsoft.com/office/powerpoint/2010/main" val="2733574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12294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Gracias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227838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¿Listo para quemar calorías y ganar dinero?</a:t>
            </a:r>
            <a:endParaRPr lang="en-US" sz="6150" dirty="0"/>
          </a:p>
        </p:txBody>
      </p:sp>
      <p:sp>
        <p:nvSpPr>
          <p:cNvPr id="7" name="Text 3"/>
          <p:cNvSpPr/>
          <p:nvPr/>
        </p:nvSpPr>
        <p:spPr>
          <a:xfrm>
            <a:off x="793790" y="6531412"/>
            <a:ext cx="7556421" cy="468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📧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Contacto: hola@burnpredict.com</a:t>
            </a:r>
            <a:endParaRPr lang="en-US" sz="2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494086B-3619-AEDE-FA8D-786CC86A3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999" y="0"/>
            <a:ext cx="5486401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398</Words>
  <Application>Microsoft Office PowerPoint</Application>
  <PresentationFormat>Personalizado</PresentationFormat>
  <Paragraphs>91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Open Sans</vt:lpstr>
      <vt:lpstr>Unbounded Light</vt:lpstr>
      <vt:lpstr>Arial</vt:lpstr>
      <vt:lpstr>Unbounded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Rodriguez</dc:creator>
  <cp:lastModifiedBy>CARLOS ARTURO RODRIGUEZ AYOLA</cp:lastModifiedBy>
  <cp:revision>4</cp:revision>
  <dcterms:created xsi:type="dcterms:W3CDTF">2025-10-04T20:26:47Z</dcterms:created>
  <dcterms:modified xsi:type="dcterms:W3CDTF">2025-12-15T03:09:57Z</dcterms:modified>
</cp:coreProperties>
</file>